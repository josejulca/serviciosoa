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06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525F-1F58-9F23-5D83-E93B8EAD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9FECE-B515-EA6C-3259-0C47F738F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E73A1-AE2C-67E4-70D1-BE9C03DE8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F8094-DD91-4EDB-229F-12DC32298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66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384048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SOA con ESB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disponibilidad de viaje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35204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José Antonio Julca Díaz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2 — Implementacion de una infraestructura con estilo arquitectura SOA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servicios SOAP, un Enterprise Service Bus, y un cliente web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es una arquitectura SOA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Architecture: un estilo arquitectonico donde el sistema se divide en servicios independientes, cada uno responsable de una capacidad de negocio especifica, que se comunican entre si mediante contratos bien definidos.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108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-plug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91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explicito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343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expone una interfaz formal (WSDL) que define como se le puede invocar.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3108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-shield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91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343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es independiente: tiene su propia logica y solo accede a sus propios datos.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78892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58200" y="3108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-glob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291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acoplamiento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58200" y="4343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no se conocen entre si directamente; se comunican via mensajes estandar.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rol del Enterprise Service Bus (ESB)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ESB es la pieza de infraestructura que orquesta la comunicacion entre el consumidor y los servicios. Centraliza el enrutamiento y la coordinacion, para que ningun consumidor necesite conocer la complejidad interna del sistema.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227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 cada solicitud al servicio correcto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685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llamadas a varios servicios en secuencia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142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las respuestas en un solo resultado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 al consumidor de los detalles internos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Consumidor (WebCliente)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0" y="2468880"/>
            <a:ext cx="0" cy="411480"/>
          </a:xfrm>
          <a:prstGeom prst="line">
            <a:avLst/>
          </a:prstGeom>
          <a:noFill/>
          <a:ln w="1905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880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ESB — orquestador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9680" y="3566160"/>
            <a:ext cx="0" cy="36576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9680" y="3566160"/>
            <a:ext cx="0" cy="36576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69580" y="39319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69580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0" y="3566160"/>
            <a:ext cx="1805940" cy="36576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75520" y="39319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75520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5074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WebCliente conoce solo al ESB; nunca llama directamente a un servicio.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0418CFC1-363C-A8BB-5EFB-8AD76C4BA0B8}"/>
              </a:ext>
            </a:extLst>
          </p:cNvPr>
          <p:cNvSpPr/>
          <p:nvPr/>
        </p:nvSpPr>
        <p:spPr>
          <a:xfrm flipH="1">
            <a:off x="7269480" y="3566160"/>
            <a:ext cx="1600200" cy="36576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 de referencia de la arquitectura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75608" y="178308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75608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«component» Consumidor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75608" y="269748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75608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«infrastructure» ESB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48" y="2423160"/>
            <a:ext cx="0" cy="274320"/>
          </a:xfrm>
          <a:prstGeom prst="line">
            <a:avLst/>
          </a:prstGeom>
          <a:noFill/>
          <a:ln w="1905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5848" y="3337560"/>
            <a:ext cx="0" cy="320040"/>
          </a:xfrm>
          <a:prstGeom prst="line">
            <a:avLst/>
          </a:prstGeom>
          <a:noFill/>
          <a:ln w="1905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33008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26968" y="365760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27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01288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«service» Servicio SOA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01288" y="425196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1288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(WSDL)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01288" y="484632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1288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01288" y="544068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01288" y="5440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servicio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patron se repite identico para cada uno de los tres servicios del proyecto: Pasajeros, Rutas y Disponibilidad.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APLICACION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caso real: transporte interprovincial en Peru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como las que cubren rutas Lima-Cusco o Lima-Arequipa necesitan, antes de vender un pasaje, responder tres preguntas que dependen de sistemas distintos: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un pasajero valido?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de pasajeros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60604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¿Existe esa ruta y esta activa?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4206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planificacion de rutas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60604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¿Hay cupos disponibles esa fecha?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206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inventario / reservas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implementada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09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0" y="1554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WebCliente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 Pages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48" y="2194560"/>
            <a:ext cx="0" cy="320040"/>
          </a:xfrm>
          <a:prstGeom prst="line">
            <a:avLst/>
          </a:prstGeom>
          <a:noFill/>
          <a:ln w="1905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33008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0" y="2560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2560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BusESB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los 3 servicios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5848" y="3154680"/>
            <a:ext cx="0" cy="41148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78328" y="3591648"/>
            <a:ext cx="0" cy="41148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52448" y="4010816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89608" y="4147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ServicioPasajeros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89608" y="4605176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89608" y="4605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(WSDL)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89608" y="5034944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89608" y="5034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89608" y="546471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89608" y="5464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52448" y="594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pasajero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5848" y="3154680"/>
            <a:ext cx="0" cy="77384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69968" y="4010816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7128" y="4147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ServicioRutas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07128" y="4605176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07128" y="4605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(WSDL)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07128" y="5034944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07128" y="5034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07128" y="546471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7128" y="5464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69968" y="594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ruta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95848" y="3154680"/>
            <a:ext cx="3017520" cy="41148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05276" y="3567372"/>
            <a:ext cx="0" cy="411480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87488" y="4010816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24648" y="4147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ServicioDisponibilidad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24648" y="4605176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24648" y="4605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(WSDL)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24648" y="5034944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924648" y="5034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24648" y="546471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24648" y="5464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87488" y="594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/ reservar cupos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29">
            <a:extLst>
              <a:ext uri="{FF2B5EF4-FFF2-40B4-BE49-F238E27FC236}">
                <a16:creationId xmlns:a16="http://schemas.microsoft.com/office/drawing/2014/main" id="{8787C3F7-BD2D-DB78-3E52-5AC63FF78C0A}"/>
              </a:ext>
            </a:extLst>
          </p:cNvPr>
          <p:cNvSpPr/>
          <p:nvPr/>
        </p:nvSpPr>
        <p:spPr>
          <a:xfrm flipH="1">
            <a:off x="3078328" y="3154680"/>
            <a:ext cx="3017520" cy="444656"/>
          </a:xfrm>
          <a:prstGeom prst="line">
            <a:avLst/>
          </a:prstGeom>
          <a:noFill/>
          <a:ln w="15240">
            <a:solidFill>
              <a:srgbClr val="8B97A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SOA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hace cada servicio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es autonomo: tiene su propio contrato (WSDL), su propia logica y accede unicamente a los datos que le pertenecen. Ningun servicio consulta los datos de otro.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-serve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026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ServicioPasajeros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numero de documento y verifica si el pasajero esta registrado y habilitado para viajar. Solo tiene acceso a la tabla de Pasajeros.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6060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2880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-exchange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ServicioRutas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origen y un destino y devuelve si existe una ruta activa entre esos puntos. Solo tiene acceso a la tabla de Rutas.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12480" y="2880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-database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30266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ServicioDisponibilidad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reserva o cancela cupos para una ruta y fecha. Registra reservas por pasajero. Solo tiene acceso a sus propias tablas.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el ESB orquesta una consulta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783080"/>
            <a:ext cx="96926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Recibir solicitud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837944"/>
            <a:ext cx="6446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WebCliente envia documento, origen, destino y fecha al ESB.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0" cy="274320"/>
          </a:xfrm>
          <a:prstGeom prst="line">
            <a:avLst/>
          </a:prstGeom>
          <a:noFill/>
          <a:ln w="1270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871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17320" y="2734056"/>
            <a:ext cx="9692640" cy="731520"/>
          </a:xfrm>
          <a:prstGeom prst="roundRect">
            <a:avLst>
              <a:gd name="adj" fmla="val 10000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2788920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pasajero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788920"/>
            <a:ext cx="6446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ESB consulta a ServicioPasajeros. Si no es valido, se detiene aqui.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419856"/>
            <a:ext cx="0" cy="274320"/>
          </a:xfrm>
          <a:prstGeom prst="line">
            <a:avLst/>
          </a:prstGeom>
          <a:noFill/>
          <a:ln w="1270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17320" y="3685032"/>
            <a:ext cx="96926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3739896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ruta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3739896"/>
            <a:ext cx="6446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ESB consulta a ServicioRutas. Si no existe o esta inactiva, se detiene.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370832"/>
            <a:ext cx="0" cy="274320"/>
          </a:xfrm>
          <a:prstGeom prst="line">
            <a:avLst/>
          </a:prstGeom>
          <a:noFill/>
          <a:ln w="1270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7731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17320" y="4636008"/>
            <a:ext cx="9692640" cy="731520"/>
          </a:xfrm>
          <a:prstGeom prst="roundRect">
            <a:avLst>
              <a:gd name="adj" fmla="val 10000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4690872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cupos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4690872"/>
            <a:ext cx="6446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ESB consulta a ServicioDisponibilidad con el RutaId obtenido.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" y="5321808"/>
            <a:ext cx="0" cy="274320"/>
          </a:xfrm>
          <a:prstGeom prst="line">
            <a:avLst/>
          </a:prstGeom>
          <a:noFill/>
          <a:ln w="12700">
            <a:solidFill>
              <a:srgbClr val="8B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" y="572414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5724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17320" y="5586984"/>
            <a:ext cx="96926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91640" y="5641848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respuesta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26280" y="5641848"/>
            <a:ext cx="6446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ESB combina los tres resultados en una sola respuesta.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IMPLEMENTADA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del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aplicacion ofrece tres operaciones al consumidor, todas orquestadas por el ESB. Cada una involucra uno o mas servicios SOA segun la logica de negocio requerida.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disponibilidad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90740" y="265176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pasajero ingresa su documento, la ruta y la fecha. El ESB verifica el pasajero, la ruta y los cupos disponibles, y devuelve el resultado consolidado.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594360" cy="594360"/>
          </a:xfrm>
          <a:prstGeom prst="ellipse">
            <a:avLst/>
          </a:prstGeom>
          <a:solidFill>
            <a:srgbClr val="3B6D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 reserva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90740" y="39776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disponibilidad, el pasajero puede confirmar su lugar. El sistema registra la reserva y descuenta un cupo de la disponibilidad.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5486400"/>
            <a:ext cx="594360" cy="594360"/>
          </a:xfrm>
          <a:prstGeom prst="ellipse">
            <a:avLst/>
          </a:prstGeom>
          <a:solidFill>
            <a:srgbClr val="A3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5349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Cancelar reserva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90740" y="53035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pasajero puede cancelar una reserva existente. El sistema elimina el registro y devuelve el cupo a la disponibilidad.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esta arquitectura demuestra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037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 real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tiene su contrato, su logica y sus datos. Ninguno depende del codigo interno de otro.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-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2037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acoplamiento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5508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WebCliente solo conoce al ESB. Cambiar un servicio interno no afecta al consumidor.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-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35254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Extensibilidad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Confirmar/Cancelar reserva no requirio rediseñar el sistema, solo extenderlo.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393192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-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435254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Orquestacion centralizada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5508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logica de coordinacion vive en un solo lugar: el ESB.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67109-60FB-DB2B-0CB7-11BC45D1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5D1732-6636-D87F-5943-D17810CA4FB3}"/>
              </a:ext>
            </a:extLst>
          </p:cNvPr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IMPLEMENTADA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0AE5AF-4F99-D2E7-A58D-9078F184EEA3}"/>
              </a:ext>
            </a:extLst>
          </p:cNvPr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200" b="1" noProof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</a:t>
            </a:r>
            <a:r>
              <a:rPr lang="es-PE" sz="3200" b="1" noProof="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bibliograficas</a:t>
            </a:r>
            <a:endParaRPr lang="es-PE" sz="3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C0F944-EFE6-A29F-51E5-870B39FE4899}"/>
              </a:ext>
            </a:extLst>
          </p:cNvPr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50" dirty="0">
              <a:solidFill>
                <a:srgbClr val="4450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s-PE" sz="14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académicas y técnicas que sustentan la arquitectura SOA y su implementación en C# / ASP.NET Core.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C488F2-0711-AF60-480E-B984D77DA563}"/>
              </a:ext>
            </a:extLst>
          </p:cNvPr>
          <p:cNvSpPr/>
          <p:nvPr/>
        </p:nvSpPr>
        <p:spPr>
          <a:xfrm>
            <a:off x="640080" y="2606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69163D-0C9B-C1D8-8A17-7253E213DCD6}"/>
              </a:ext>
            </a:extLst>
          </p:cNvPr>
          <p:cNvSpPr/>
          <p:nvPr/>
        </p:nvSpPr>
        <p:spPr>
          <a:xfrm>
            <a:off x="914400" y="2834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A4315F-D241-CC4E-0EF4-81EEEB2787D6}"/>
              </a:ext>
            </a:extLst>
          </p:cNvPr>
          <p:cNvSpPr/>
          <p:nvPr/>
        </p:nvSpPr>
        <p:spPr>
          <a:xfrm>
            <a:off x="9144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BEFC50-748B-1572-96B9-13BAAFB94C9C}"/>
              </a:ext>
            </a:extLst>
          </p:cNvPr>
          <p:cNvSpPr/>
          <p:nvPr/>
        </p:nvSpPr>
        <p:spPr>
          <a:xfrm>
            <a:off x="1737360" y="2628472"/>
            <a:ext cx="4706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Microsoft Learn - </a:t>
            </a:r>
            <a:r>
              <a:rPr lang="en-US" sz="15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CoreWCF</a:t>
            </a: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Documentation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B3FDC2-503F-F0F3-5BC3-518570E03BCE}"/>
              </a:ext>
            </a:extLst>
          </p:cNvPr>
          <p:cNvSpPr/>
          <p:nvPr/>
        </p:nvSpPr>
        <p:spPr>
          <a:xfrm>
            <a:off x="1737360" y="2651760"/>
            <a:ext cx="9785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250" dirty="0">
              <a:solidFill>
                <a:srgbClr val="4450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(2025).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CoreWCF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.NET. Microsoft Learn. Recuperado de la documentación oficial de Microsoft.</a:t>
            </a:r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https://learn.microsoft.com/en-us/dotnet/core/porting/server/corewcf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EDFD85-FC08-6F64-56F3-1FE2A97C104A}"/>
              </a:ext>
            </a:extLst>
          </p:cNvPr>
          <p:cNvSpPr/>
          <p:nvPr/>
        </p:nvSpPr>
        <p:spPr>
          <a:xfrm>
            <a:off x="640080" y="3931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0D3CE76-4CF1-2F3C-01EC-5BD6A2C20BAE}"/>
              </a:ext>
            </a:extLst>
          </p:cNvPr>
          <p:cNvSpPr/>
          <p:nvPr/>
        </p:nvSpPr>
        <p:spPr>
          <a:xfrm>
            <a:off x="91440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36A6D6-F01E-E984-8076-CC0C8650671D}"/>
              </a:ext>
            </a:extLst>
          </p:cNvPr>
          <p:cNvSpPr/>
          <p:nvPr/>
        </p:nvSpPr>
        <p:spPr>
          <a:xfrm>
            <a:off x="173736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CoreWCF</a:t>
            </a: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Official Project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B49E91-5F6B-FC30-6375-FC886AD4DB38}"/>
              </a:ext>
            </a:extLst>
          </p:cNvPr>
          <p:cNvSpPr/>
          <p:nvPr/>
        </p:nvSpPr>
        <p:spPr>
          <a:xfrm>
            <a:off x="1737360" y="3977640"/>
            <a:ext cx="9785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250" dirty="0">
              <a:solidFill>
                <a:srgbClr val="4450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CoreWCF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(2025).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CoreWCF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WCF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.NET. GitHub. Recuperado de la documentación oficial del proyecto.</a:t>
            </a:r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https://github.com/CoreWCF/CoreWCF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3A16453-78A1-D752-CE35-C467A400DE3C}"/>
              </a:ext>
            </a:extLst>
          </p:cNvPr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36068BC-F945-B2AF-DD4E-5D82BEDE1216}"/>
              </a:ext>
            </a:extLst>
          </p:cNvPr>
          <p:cNvSpPr/>
          <p:nvPr/>
        </p:nvSpPr>
        <p:spPr>
          <a:xfrm>
            <a:off x="1737359" y="5349240"/>
            <a:ext cx="33090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SOAP Version 1.2 Specification (W3C)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7CB6845-BAAE-36D0-124E-1726F27FB038}"/>
              </a:ext>
            </a:extLst>
          </p:cNvPr>
          <p:cNvSpPr/>
          <p:nvPr/>
        </p:nvSpPr>
        <p:spPr>
          <a:xfrm>
            <a:off x="1737360" y="5303520"/>
            <a:ext cx="9785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>
              <a:solidFill>
                <a:srgbClr val="4450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(W3C). (2007). SOAP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1.2 Part 1: </a:t>
            </a:r>
            <a:r>
              <a:rPr lang="es-PE" sz="1250" noProof="0" dirty="0" err="1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r>
              <a:rPr lang="es-PE" sz="1250" noProof="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Framework. Recuperado de la especificación oficial.</a:t>
            </a:r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https://www.w3.org/TR/soap12-part1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4A9B945-CF31-2F9E-97C8-8645C62AE9B9}"/>
              </a:ext>
            </a:extLst>
          </p:cNvPr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FC85FE97-E6DE-F328-54BD-D493CE0B8CA4}"/>
              </a:ext>
            </a:extLst>
          </p:cNvPr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D589A3F-DDB3-6B09-3AD3-72BE7FCC7F08}"/>
              </a:ext>
            </a:extLst>
          </p:cNvPr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A182C071-67B7-4CC0-0735-CCB425D76E62}"/>
              </a:ext>
            </a:extLst>
          </p:cNvPr>
          <p:cNvSpPr/>
          <p:nvPr/>
        </p:nvSpPr>
        <p:spPr>
          <a:xfrm>
            <a:off x="914400" y="55092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9CAFFED-04F0-C9F8-32D8-83E04339A511}"/>
              </a:ext>
            </a:extLst>
          </p:cNvPr>
          <p:cNvSpPr/>
          <p:nvPr/>
        </p:nvSpPr>
        <p:spPr>
          <a:xfrm>
            <a:off x="914400" y="5509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517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2869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41248" y="39776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991</Words>
  <Application>Microsoft Office PowerPoint</Application>
  <PresentationFormat>Widescreen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SOA con ESB - Consulta de Disponibilidad de Viaje</dc:title>
  <dc:subject>PptxGenJS Presentation</dc:subject>
  <dc:creator>Jose</dc:creator>
  <cp:lastModifiedBy>José Antonio Julca Díaz</cp:lastModifiedBy>
  <cp:revision>4</cp:revision>
  <dcterms:created xsi:type="dcterms:W3CDTF">2026-06-22T05:18:34Z</dcterms:created>
  <dcterms:modified xsi:type="dcterms:W3CDTF">2026-06-23T01:10:59Z</dcterms:modified>
</cp:coreProperties>
</file>